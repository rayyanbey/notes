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22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7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9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0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92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64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64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86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4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7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533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061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05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780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37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385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02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889B6D-771E-48D6-ADEA-0C34847D9D8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A6D265C-0DE5-4B51-9228-86A548E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5132-315B-3388-6504-AFC0D92D2A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Tauheed, The Utmost Need of Mankind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2BC81-97F9-D636-1D4B-85FC4C9384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Lesson 2</a:t>
            </a:r>
          </a:p>
          <a:p>
            <a:pPr algn="l"/>
            <a:r>
              <a:rPr lang="en-US" dirty="0"/>
              <a:t>Chapter: 2, 3</a:t>
            </a:r>
          </a:p>
          <a:p>
            <a:pPr algn="r"/>
            <a:r>
              <a:rPr lang="en-US" dirty="0">
                <a:solidFill>
                  <a:srgbClr val="92D050"/>
                </a:solidFill>
              </a:rPr>
              <a:t>Prepared by: Hamid Kamaluddin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12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E835-35C0-15CA-019C-BC3CEB27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b="1" dirty="0">
                <a:solidFill>
                  <a:srgbClr val="00B050"/>
                </a:solidFill>
              </a:rPr>
              <a:t>الحاجة إلى التوحيد أعظم الضرورات</a:t>
            </a:r>
            <a:br>
              <a:rPr lang="ar-SA" b="1" dirty="0">
                <a:solidFill>
                  <a:srgbClr val="00B050"/>
                </a:solidFill>
              </a:rPr>
            </a:br>
            <a:r>
              <a:rPr lang="en-US" sz="4200" dirty="0"/>
              <a:t>Tauheed, the Absolute Necessity:: The Grounds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E56D2-32A6-A539-0B78-0C19EE974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 rtl="1">
              <a:buNone/>
            </a:pPr>
            <a:r>
              <a:rPr lang="en-US" sz="4400" b="1" dirty="0"/>
              <a:t>1</a:t>
            </a:r>
          </a:p>
          <a:p>
            <a:pPr algn="r" rtl="1"/>
            <a:r>
              <a:rPr lang="ar-SA" sz="4400" dirty="0"/>
              <a:t>ل</a:t>
            </a:r>
            <a:r>
              <a:rPr lang="ar-SA" sz="4400" dirty="0">
                <a:solidFill>
                  <a:schemeClr val="accent2">
                    <a:lumMod val="75000"/>
                  </a:schemeClr>
                </a:solidFill>
              </a:rPr>
              <a:t>أن الله خَلَقَ الخلقَ لِعِبَادَتِهِ</a:t>
            </a:r>
            <a:endParaRPr lang="en-US" sz="4400" dirty="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r>
              <a:rPr lang="en-US" sz="4400" dirty="0"/>
              <a:t>Because Allah created His creature, so it worships Him alone</a:t>
            </a:r>
            <a:endParaRPr lang="ar-SA" sz="4400" dirty="0"/>
          </a:p>
          <a:p>
            <a:pPr algn="r" rtl="1"/>
            <a:r>
              <a:rPr lang="ar-SA" sz="7100" dirty="0">
                <a:solidFill>
                  <a:schemeClr val="accent2">
                    <a:lumMod val="7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وَمَا خَلَقۡتُ ٱلۡجِنَّ وَٱلۡإِنسَ إِلَّا لِيَعۡبُدُونِ</a:t>
            </a:r>
            <a:r>
              <a:rPr lang="ar-SA" sz="7100" dirty="0"/>
              <a:t> </a:t>
            </a:r>
            <a:r>
              <a:rPr lang="ar-SA" sz="1900" dirty="0"/>
              <a:t>(الذاريات: ٥٦)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78322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11D1-24AF-2F60-0C9B-9D356039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EFD3-4D33-6AA4-322F-88A63751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66452"/>
            <a:ext cx="9601196" cy="3909416"/>
          </a:xfrm>
        </p:spPr>
        <p:txBody>
          <a:bodyPr>
            <a:normAutofit/>
          </a:bodyPr>
          <a:lstStyle/>
          <a:p>
            <a:pPr marL="0" indent="0" algn="ctr" rtl="1">
              <a:buNone/>
            </a:pPr>
            <a:endParaRPr lang="en-US" b="1" dirty="0"/>
          </a:p>
          <a:p>
            <a:pPr algn="r" rtl="1"/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ولِأنه سبب دخول الجنة، والنجاةِ من النار</a:t>
            </a:r>
            <a:r>
              <a:rPr lang="ar-SA" dirty="0"/>
              <a:t> </a:t>
            </a:r>
            <a:r>
              <a:rPr lang="en-US" dirty="0"/>
              <a:t>And Because it is “The Means” to enter the Jannah, and be saved from the Fire.</a:t>
            </a:r>
            <a:endParaRPr lang="ar-SA" dirty="0"/>
          </a:p>
          <a:p>
            <a:pPr algn="r" rtl="1"/>
            <a:r>
              <a:rPr lang="ar-SA" sz="1800" dirty="0"/>
              <a:t>عن جابر، قال: قال النبي صلى الله عليه وسلم:</a:t>
            </a:r>
            <a:r>
              <a:rPr lang="ar-SA" dirty="0"/>
              <a:t> </a:t>
            </a:r>
            <a:r>
              <a:rPr lang="ar-SA" sz="2800" b="1" dirty="0">
                <a:solidFill>
                  <a:schemeClr val="accent2">
                    <a:lumMod val="75000"/>
                  </a:schemeClr>
                </a:solidFill>
              </a:rPr>
              <a:t>مَن ماتَ لا يُشْرِكُ باللَّهِ شيئًا دَخَلَ الجَنَّةَ </a:t>
            </a:r>
            <a:r>
              <a:rPr lang="ar-SA" sz="1800" dirty="0"/>
              <a:t>(صحيح مسلم)</a:t>
            </a: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r" rtl="1"/>
            <a:r>
              <a:rPr lang="ar-SA" sz="1800" dirty="0"/>
              <a:t>عن عِتبان، عن النبي صلى الله عليه وسلم:</a:t>
            </a:r>
            <a:r>
              <a:rPr lang="ar-SA" sz="2800" b="1" dirty="0">
                <a:solidFill>
                  <a:schemeClr val="accent2">
                    <a:lumMod val="75000"/>
                  </a:schemeClr>
                </a:solidFill>
              </a:rPr>
              <a:t> فإن اللهَ حَرَّمَ على النارِ مَن قال: لا إله إلا الله، يبتغي بذلك وجه الله </a:t>
            </a:r>
            <a:r>
              <a:rPr lang="ar-SA" sz="1900" dirty="0"/>
              <a:t>(متفق عليه)</a:t>
            </a:r>
          </a:p>
          <a:p>
            <a:pPr algn="r" rtl="1"/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"وحاجة العبد إليه أعظم من حاجته إلى الطعام والشراب والهواء"</a:t>
            </a:r>
            <a:r>
              <a:rPr lang="ar-SA" sz="2000" b="1" dirty="0"/>
              <a:t> </a:t>
            </a:r>
            <a:r>
              <a:rPr lang="en-US" sz="2000" b="1" dirty="0"/>
              <a:t>"And the servant’s need for Tauheed is greater than his need for food, drink, and air."</a:t>
            </a:r>
            <a:endParaRPr lang="en-US" sz="19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83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3E3A-ABAD-AE95-5776-BB94787B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1C73-954D-3989-71A9-D4430315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r-PK" b="1" dirty="0"/>
              <a:t>3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435AB-A176-0F0D-9743-F00666D62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rtl="1">
              <a:buNone/>
            </a:pPr>
            <a:endParaRPr lang="en-US" b="1" dirty="0"/>
          </a:p>
          <a:p>
            <a:pPr algn="r" rtl="1"/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ولِأنه الفطرة التي فطر اللهُ الناسَ عليها. </a:t>
            </a:r>
            <a:r>
              <a:rPr lang="en-US" dirty="0"/>
              <a:t>And Because it is the “Natural Disposition, upon which Allah has originated mankind”.</a:t>
            </a:r>
            <a:endParaRPr lang="ar-SA" dirty="0"/>
          </a:p>
          <a:p>
            <a:pPr algn="r" rtl="1"/>
            <a:r>
              <a:rPr lang="ar-SA" b="1" dirty="0">
                <a:solidFill>
                  <a:schemeClr val="accent2">
                    <a:lumMod val="75000"/>
                  </a:schemeClr>
                </a:solidFill>
              </a:rPr>
              <a:t>فَأَقِمْ وَجْهَكَ لِلدِّينِ حَنِيفًا ۚ فِطْرَتَ اللَّهِ الَّتِي فَطَرَ النَّاسَ عَلَيْهَا ۚ لَا تَبْدِيلَ لِخَلْقِ اللَّهِ ۚ ذَٰلِكَ الدِّينُ الْقَيِّمُ وَلَٰكِنَّ أَكْثَرَ النَّاسِ لَا يَعْلَمُونَ</a:t>
            </a:r>
            <a:r>
              <a:rPr lang="ar-SA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ar-SA" sz="1800" dirty="0"/>
              <a:t>(الروم: 30)</a:t>
            </a: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55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0925-8373-D0CB-0E81-B40E7C4D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CC28-AA56-A7C2-835D-EFF66DCB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b="1" dirty="0"/>
              <a:t>4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432C9-FBE9-CDD5-3745-EE9842C68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rtl="1">
              <a:buNone/>
            </a:pPr>
            <a:endParaRPr lang="en-US" b="1" dirty="0"/>
          </a:p>
          <a:p>
            <a:pPr algn="r" rtl="1"/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ولِأنه الموجب الأكبر للمغفرة والشفاعة.</a:t>
            </a:r>
            <a:r>
              <a:rPr lang="ar-SA" dirty="0"/>
              <a:t> </a:t>
            </a:r>
            <a:r>
              <a:rPr lang="en-US" dirty="0"/>
              <a:t>And Because it is the greatest cause for Forgiveness and Intersession.</a:t>
            </a:r>
            <a:endParaRPr lang="ar-SA" dirty="0"/>
          </a:p>
          <a:p>
            <a:pPr algn="r" rtl="1"/>
            <a:r>
              <a:rPr lang="ar-SA" sz="1800" dirty="0"/>
              <a:t>حديث قدسي عن أنس: </a:t>
            </a:r>
            <a:r>
              <a:rPr lang="ar-SA" b="1" dirty="0">
                <a:solidFill>
                  <a:srgbClr val="00B050"/>
                </a:solidFill>
              </a:rPr>
              <a:t>يا ابن آدم إنك لو أتيتني بقراب الأرض خطايا، ثم لقيتني لا تشرك بي شيئًا لأتيتك بقرابها مغفرة. </a:t>
            </a:r>
            <a:r>
              <a:rPr lang="ar-SA" sz="1800" dirty="0"/>
              <a:t>(الترمذي)</a:t>
            </a:r>
          </a:p>
          <a:p>
            <a:pPr algn="r" rtl="1"/>
            <a:r>
              <a:rPr lang="ar-SA" sz="1800" dirty="0">
                <a:solidFill>
                  <a:schemeClr val="tx1"/>
                </a:solidFill>
              </a:rPr>
              <a:t>عن أبي هريرة، عن النبي صلى الله عليه وسلم:</a:t>
            </a:r>
            <a:r>
              <a:rPr lang="ar-SA" sz="1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ar-SA" b="1" dirty="0">
                <a:solidFill>
                  <a:srgbClr val="00B050"/>
                </a:solidFill>
              </a:rPr>
              <a:t>أسْعَدُ النَّاسِ بشَفَاعَتي يَومَ القِيَامة مَن قال: لا إله إلَّا اللَّه، خَالِصًا مِن قَلْبه، أوْ نَفْسِ. </a:t>
            </a:r>
            <a:r>
              <a:rPr lang="ar-SA" sz="1800" dirty="0"/>
              <a:t>(البخاري)</a:t>
            </a: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00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AD53B-BF47-382D-E525-A66CB79D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BF85-C2AF-BE7E-737B-76177299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b="1" dirty="0"/>
              <a:t>5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40F5-3F9F-C67A-7B73-40C9310A3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rtl="1">
              <a:buNone/>
            </a:pPr>
            <a:endParaRPr lang="en-US" b="1" dirty="0"/>
          </a:p>
          <a:p>
            <a:pPr algn="r" rtl="1"/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ولِأنه أعظم وسيلة إلى الله عند الشدائد.</a:t>
            </a:r>
            <a:r>
              <a:rPr lang="ar-SA" dirty="0"/>
              <a:t> </a:t>
            </a:r>
            <a:r>
              <a:rPr lang="en-US" dirty="0"/>
              <a:t>And Because it is the greatest means to </a:t>
            </a:r>
            <a:r>
              <a:rPr lang="en-US" dirty="0" err="1"/>
              <a:t>aproach</a:t>
            </a:r>
            <a:r>
              <a:rPr lang="en-US" dirty="0"/>
              <a:t> God during times of hardship.</a:t>
            </a:r>
            <a:endParaRPr lang="ar-SA" dirty="0"/>
          </a:p>
          <a:p>
            <a:pPr algn="r" rtl="1"/>
            <a:r>
              <a:rPr lang="ar-SA" sz="3000" b="1" dirty="0">
                <a:solidFill>
                  <a:srgbClr val="00B050"/>
                </a:solidFill>
              </a:rPr>
              <a:t>فَنَادَىٰ فِي الظُّلُمَاتِ أَن لَّا إِلَٰهَ إِلَّا أَنتَ سُبْحَانَكَ إِنِّي كُنتُ مِنَ الظَّالِمِينَ</a:t>
            </a:r>
            <a:r>
              <a:rPr lang="ar-SA" dirty="0"/>
              <a:t> ‎﴿الأنبياء: ٨٧﴾</a:t>
            </a:r>
            <a:r>
              <a:rPr lang="ur-PK" dirty="0"/>
              <a:t> </a:t>
            </a:r>
            <a:r>
              <a:rPr lang="en-US" dirty="0"/>
              <a:t>But he cried through the darkness: None is worthy of </a:t>
            </a:r>
            <a:r>
              <a:rPr lang="en-US" dirty="0" err="1"/>
              <a:t>worshipp</a:t>
            </a:r>
            <a:r>
              <a:rPr lang="en-US" dirty="0"/>
              <a:t> but You! Glorified be You! Lo! I have been of the wrong-doers!</a:t>
            </a:r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2001697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41C2-BC87-9B9A-FC24-5A3DDDEB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85ED-3141-4702-FE32-51FDC2A5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66836-7A1F-08DC-646C-3726631A8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rtl="1">
              <a:buNone/>
            </a:pPr>
            <a:endParaRPr lang="en-US" b="1" dirty="0"/>
          </a:p>
          <a:p>
            <a:pPr algn="r" rtl="1"/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ولِأن الله يُذَكٍّرُ نَبِيَّهُ بعلم التوحيد.</a:t>
            </a:r>
            <a:r>
              <a:rPr lang="ar-SA" dirty="0"/>
              <a:t> </a:t>
            </a:r>
            <a:r>
              <a:rPr lang="en-US" dirty="0"/>
              <a:t>And Because Allah reminds His own prophet of learning Tauheed.</a:t>
            </a:r>
            <a:endParaRPr lang="ar-SA" dirty="0"/>
          </a:p>
          <a:p>
            <a:pPr algn="r" rtl="1"/>
            <a:r>
              <a:rPr lang="ar-SA" sz="3200" b="1" dirty="0">
                <a:solidFill>
                  <a:srgbClr val="00B050"/>
                </a:solidFill>
              </a:rPr>
              <a:t>فَاعْلَمْ أَنَّهُ لَا إِلَٰهَ إِلَّا اللَّهُ وَاسْتَغْفِرْ لِذَنبِكَ وَلِلْمُؤْمِنِينَ وَالْمُؤْمِنَاتِ</a:t>
            </a:r>
            <a:r>
              <a:rPr lang="ar-SA" sz="3200" b="1" dirty="0"/>
              <a:t> </a:t>
            </a:r>
            <a:r>
              <a:rPr lang="ar-SA" dirty="0"/>
              <a:t> ‎﴿محمد: 19﴾</a:t>
            </a:r>
            <a:r>
              <a:rPr lang="ur-PK" dirty="0"/>
              <a:t> </a:t>
            </a:r>
            <a:r>
              <a:rPr lang="en-US" dirty="0"/>
              <a:t>Know then, therefore, there is non worthy of worship but He, and ask forgiveness for your sins and those of believing men and women.</a:t>
            </a:r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306892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E630-9F19-9B5F-720D-CF4AC4DD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Chapter 3:</a:t>
            </a:r>
            <a:r>
              <a:rPr lang="en-US" dirty="0"/>
              <a:t> 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تطبيقات عملية في التثبيت على التوحيد</a:t>
            </a:r>
            <a:br>
              <a:rPr lang="ar-SA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3600" dirty="0"/>
              <a:t>Practical applications for remaining steadfast in Tauheed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D41E-E3BB-CACE-A96A-56CA52041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ar-SA" sz="2800" b="1" dirty="0">
                <a:solidFill>
                  <a:srgbClr val="00B050"/>
                </a:solidFill>
              </a:rPr>
              <a:t>وَوَصَّىٰ بِهَآ ‌إِبۡرَٰهِـۧمُ ‌بَنِيهِ وَيَعۡقُوبُ يَٰبَنِيَّ إِنَّ ٱللَّهَ ٱصۡطَفَىٰ لَكُمُ ٱلدِّينَ فَلَا تَمُوتُنَّ إِلَّا وَأَنتُم مُّسۡلِمُونَ </a:t>
            </a:r>
            <a:r>
              <a:rPr lang="ar-SA" sz="1900" dirty="0">
                <a:solidFill>
                  <a:schemeClr val="tx1"/>
                </a:solidFill>
              </a:rPr>
              <a:t>(البقرة: ١٣٢)</a:t>
            </a:r>
          </a:p>
          <a:p>
            <a:pPr algn="r" rtl="1"/>
            <a:r>
              <a:rPr lang="ar-SA" sz="2800" b="1" dirty="0">
                <a:solidFill>
                  <a:srgbClr val="00B050"/>
                </a:solidFill>
              </a:rPr>
              <a:t>أَمۡ كُنتُمۡ شُهَدَآءَ إِذۡ حَضَرَ يَعۡقُوبَ ٱلۡمَوۡتُ إِذۡ قَالَ لِبَنِيهِ مَا تَعۡبُدُونَ مِنۢ بَعۡدِيۖ قَالُواْ نَعۡبُدُ إِلَٰهَكَ وَإِلَٰهَ ءَابَآئِكَ إِبۡرَٰهِـۧمَ وَإِسۡمَٰعِيلَ وَإِسۡحَٰقَ إِلَٰهٗا وَٰحِدٗا وَنَحۡنُ لَهُۥ مُسۡلِمُونَ </a:t>
            </a:r>
            <a:r>
              <a:rPr lang="ar-SA" sz="1900" dirty="0">
                <a:solidFill>
                  <a:schemeClr val="tx1"/>
                </a:solidFill>
              </a:rPr>
              <a:t>(البقرة: ١٣٣)</a:t>
            </a:r>
          </a:p>
          <a:p>
            <a:pPr algn="r" rtl="1"/>
            <a:r>
              <a:rPr lang="ar-SA" sz="2800" b="1" dirty="0">
                <a:solidFill>
                  <a:srgbClr val="00B050"/>
                </a:solidFill>
              </a:rPr>
              <a:t>وَإِذۡ قَالَ لُقۡمَٰنُ لِٱبۡنِهِۦ وَهُوَ يَعِظُهُۥ يَٰبُنَيَّ ‌لَا ‌تُشۡرِكۡ ‌بِٱللَّهِۖ إِنَّ ٱلشِّرۡكَ لَظُلۡمٌ عَظِيمٞ </a:t>
            </a:r>
            <a:r>
              <a:rPr lang="ar-SA" sz="1900" dirty="0">
                <a:solidFill>
                  <a:schemeClr val="tx1"/>
                </a:solidFill>
              </a:rPr>
              <a:t>(لقمان: ١٣)</a:t>
            </a:r>
          </a:p>
          <a:p>
            <a:pPr algn="r" rtl="1"/>
            <a:r>
              <a:rPr lang="ar-SA" sz="2800" b="1" dirty="0">
                <a:solidFill>
                  <a:srgbClr val="00B050"/>
                </a:solidFill>
              </a:rPr>
              <a:t>ووصَّى بها محمد صلى الله عليه وسلم ابن عباس، قائلًا: احفظ اللهَ، يحفظكَ. </a:t>
            </a:r>
            <a:r>
              <a:rPr lang="ar-SA" sz="1800" dirty="0">
                <a:solidFill>
                  <a:schemeClr val="tx1"/>
                </a:solidFill>
              </a:rPr>
              <a:t>(أحمد والترمذي)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682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430</TotalTime>
  <Words>557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Arabic Typesetting</vt:lpstr>
      <vt:lpstr>Arial</vt:lpstr>
      <vt:lpstr>Garamond</vt:lpstr>
      <vt:lpstr>Organic</vt:lpstr>
      <vt:lpstr>Tauheed, The Utmost Need of Mankind</vt:lpstr>
      <vt:lpstr>الحاجة إلى التوحيد أعظم الضرورات Tauheed, the Absolute Necessity:: The Grounds</vt:lpstr>
      <vt:lpstr>2</vt:lpstr>
      <vt:lpstr>3</vt:lpstr>
      <vt:lpstr>4</vt:lpstr>
      <vt:lpstr>5</vt:lpstr>
      <vt:lpstr>6</vt:lpstr>
      <vt:lpstr>Chapter 3:  تطبيقات عملية في التثبيت على التوحيد Practical applications for remaining steadfast in Tauheed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snek rb</dc:creator>
  <cp:lastModifiedBy>snek rb</cp:lastModifiedBy>
  <cp:revision>28</cp:revision>
  <dcterms:created xsi:type="dcterms:W3CDTF">2025-09-16T05:50:59Z</dcterms:created>
  <dcterms:modified xsi:type="dcterms:W3CDTF">2025-09-16T16:10:52Z</dcterms:modified>
</cp:coreProperties>
</file>