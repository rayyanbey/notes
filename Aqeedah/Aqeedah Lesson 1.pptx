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9" r:id="rId4"/>
    <p:sldId id="257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88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5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8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26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63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57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6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2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99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59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6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282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21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62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46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C8804B-5B92-44EE-BA3B-22EED98BABEA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22B26F-D347-49E9-BC0F-12B27A91F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7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8C5E-842E-90B8-9EE0-387CF40FA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>
                    <a:lumMod val="75000"/>
                  </a:schemeClr>
                </a:solidFill>
              </a:rPr>
              <a:t>Tauheed Defined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C03F2-C1D5-A5AE-E1D6-05B5265E3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529780"/>
            <a:ext cx="6815669" cy="1720645"/>
          </a:xfrm>
        </p:spPr>
        <p:txBody>
          <a:bodyPr/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Lesson 1</a:t>
            </a:r>
          </a:p>
          <a:p>
            <a:pPr algn="l"/>
            <a:r>
              <a:rPr lang="en-US" dirty="0"/>
              <a:t>Chapter: 1</a:t>
            </a:r>
          </a:p>
          <a:p>
            <a:pPr algn="r"/>
            <a:r>
              <a:rPr lang="en-US" dirty="0">
                <a:solidFill>
                  <a:srgbClr val="92D050"/>
                </a:solidFill>
              </a:rPr>
              <a:t>Prepared by: Hamid Kamaluddin</a:t>
            </a:r>
          </a:p>
        </p:txBody>
      </p:sp>
    </p:spTree>
    <p:extLst>
      <p:ext uri="{BB962C8B-B14F-4D97-AF65-F5344CB8AC3E}">
        <p14:creationId xmlns:p14="http://schemas.microsoft.com/office/powerpoint/2010/main" val="366792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8787-C742-FFD5-744A-081CA3DD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222318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Our Text</a:t>
            </a:r>
            <a:br>
              <a:rPr lang="en-US" dirty="0"/>
            </a:br>
            <a:r>
              <a:rPr lang="en-US" sz="2800" dirty="0"/>
              <a:t>Link to Text:</a:t>
            </a:r>
            <a:br>
              <a:rPr lang="en-US" sz="2800" dirty="0"/>
            </a:br>
            <a:r>
              <a:rPr lang="en-US"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https://www.alukah.net/books/files/book_16709/bookfile/awlnaqida.pdf  </a:t>
            </a:r>
            <a:endParaRPr lang="en-US" sz="4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063EA9-3946-720E-E9F5-7E67E254E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358" y="412955"/>
            <a:ext cx="4503765" cy="6445045"/>
          </a:xfrm>
        </p:spPr>
      </p:pic>
    </p:spTree>
    <p:extLst>
      <p:ext uri="{BB962C8B-B14F-4D97-AF65-F5344CB8AC3E}">
        <p14:creationId xmlns:p14="http://schemas.microsoft.com/office/powerpoint/2010/main" val="243422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981F-86F0-97F3-6520-9B75E01A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Phrasing the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C1DA5-F677-CA36-CB42-2A3F671F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3987"/>
            <a:ext cx="9601196" cy="3908324"/>
          </a:xfrm>
        </p:spPr>
        <p:txBody>
          <a:bodyPr>
            <a:normAutofit/>
          </a:bodyPr>
          <a:lstStyle/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العقيدة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الإيمان</a:t>
            </a:r>
          </a:p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السنة</a:t>
            </a:r>
          </a:p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التوحيد</a:t>
            </a:r>
          </a:p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الفقه الأكبر</a:t>
            </a:r>
          </a:p>
          <a:p>
            <a:pPr algn="r" rtl="1"/>
            <a:r>
              <a:rPr lang="ar-SA" sz="3200" dirty="0">
                <a:latin typeface="Segoe UI" panose="020B0502040204020203" pitchFamily="34" charset="0"/>
                <a:cs typeface="Segoe UI" panose="020B0502040204020203" pitchFamily="34" charset="0"/>
              </a:rPr>
              <a:t>الشريعة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67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E35-2282-C765-7F98-A8AF6456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Preface to the Subject: </a:t>
            </a:r>
            <a:r>
              <a:rPr lang="ar-SA" sz="6000" b="1" dirty="0">
                <a:ln>
                  <a:solidFill>
                    <a:srgbClr val="002060"/>
                  </a:solidFill>
                </a:ln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التوحيد</a:t>
            </a:r>
            <a:endParaRPr lang="en-US" b="1" dirty="0">
              <a:ln>
                <a:solidFill>
                  <a:srgbClr val="002060"/>
                </a:solidFill>
              </a:ln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3001-1B96-A66D-0430-796FEAECC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ar-SA" sz="3600" dirty="0">
                <a:latin typeface="Segoe UI" panose="020B0502040204020203" pitchFamily="34" charset="0"/>
                <a:cs typeface="Segoe UI" panose="020B0502040204020203" pitchFamily="34" charset="0"/>
              </a:rPr>
              <a:t>أشرف العلوم</a:t>
            </a:r>
          </a:p>
          <a:p>
            <a:pPr algn="r" rtl="1"/>
            <a:r>
              <a:rPr lang="ar-SA" sz="3600" dirty="0">
                <a:latin typeface="Segoe UI" panose="020B0502040204020203" pitchFamily="34" charset="0"/>
                <a:cs typeface="Segoe UI" panose="020B0502040204020203" pitchFamily="34" charset="0"/>
              </a:rPr>
              <a:t>أوجب الواجبات</a:t>
            </a:r>
          </a:p>
          <a:p>
            <a:pPr algn="r" rtl="1"/>
            <a:r>
              <a:rPr lang="ar-SA" sz="3600" dirty="0">
                <a:latin typeface="Segoe UI" panose="020B0502040204020203" pitchFamily="34" charset="0"/>
                <a:cs typeface="Segoe UI" panose="020B0502040204020203" pitchFamily="34" charset="0"/>
              </a:rPr>
              <a:t>أولُ فرضٍ فَرَضَهُ اللهُ عَلَى ابْنِ آدَمَ</a:t>
            </a:r>
          </a:p>
          <a:p>
            <a:pPr algn="l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The reason behind these GREAT statements:</a:t>
            </a:r>
          </a:p>
          <a:p>
            <a:pPr algn="l"/>
            <a:r>
              <a:rPr lang="ar-SA" sz="3600" dirty="0">
                <a:latin typeface="Segoe UI" panose="020B0502040204020203" pitchFamily="34" charset="0"/>
                <a:cs typeface="Segoe UI" panose="020B0502040204020203" pitchFamily="34" charset="0"/>
              </a:rPr>
              <a:t>مِنْ خِلَالِهِ يَعْرِفُ الْعَبْدُ: رَبَّهُ، وَدِيْنَهُ، وَنَبِيَّهُ.</a:t>
            </a:r>
            <a:r>
              <a:rPr lang="ur-PK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Through this, you recognize your Rabb, your Deen, your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Nabiyy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46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F686-FB36-321D-6579-451359E5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06828"/>
            <a:ext cx="9601196" cy="1303867"/>
          </a:xfrm>
        </p:spPr>
        <p:txBody>
          <a:bodyPr/>
          <a:lstStyle/>
          <a:p>
            <a:r>
              <a:rPr lang="en-US" dirty="0"/>
              <a:t>The Three </a:t>
            </a:r>
            <a:r>
              <a:rPr lang="en-US" dirty="0" err="1"/>
              <a:t>Fundamantals</a:t>
            </a:r>
            <a:r>
              <a:rPr lang="en-US" dirty="0"/>
              <a:t> </a:t>
            </a:r>
            <a:r>
              <a:rPr lang="ar-SA" sz="5400" dirty="0"/>
              <a:t>الأصول الثلاثة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4BAC5-D75E-F424-16D0-EB5FAEEB4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87792"/>
            <a:ext cx="9601196" cy="411971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SA" dirty="0"/>
              <a:t>عَنِ الْمُنَيْذِرِ صَاحِبِ رَسُولِ اللهِ صَلَّى اللهُ عَلَيْهِ وَسَلَّمَ، قَالَ: سَمِعْتُ رَسُولَ اللهِ صَلَّى اللهُ عَلَيْهِ وَسَلَّمَ يَقُولُ: مَنْ قَالَ إِذَا أَصْبَحَ:</a:t>
            </a:r>
          </a:p>
          <a:p>
            <a:pPr marL="0" indent="0" algn="ctr" rtl="1">
              <a:buNone/>
            </a:pP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رَضِيتُ</a:t>
            </a:r>
          </a:p>
          <a:p>
            <a:pPr marL="0" indent="0" algn="ctr" rtl="1">
              <a:buNone/>
            </a:pPr>
            <a:r>
              <a:rPr lang="ar-SA" b="1" dirty="0">
                <a:ln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بِاللهِ</a:t>
            </a: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رَبًّا،</a:t>
            </a:r>
          </a:p>
          <a:p>
            <a:pPr marL="0" indent="0" algn="ctr" rtl="1">
              <a:buNone/>
            </a:pPr>
            <a:r>
              <a:rPr lang="ar-SA" b="1" dirty="0">
                <a:ln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وَبِالْإِسْلَامِ</a:t>
            </a: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دِينًا،</a:t>
            </a:r>
          </a:p>
          <a:p>
            <a:pPr marL="0" indent="0" algn="ctr" rtl="1">
              <a:buNone/>
            </a:pPr>
            <a:r>
              <a:rPr lang="ar-SA" b="1" dirty="0">
                <a:ln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وَبِمُحَمَّدٍ</a:t>
            </a: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نَبِيًّا،</a:t>
            </a:r>
          </a:p>
          <a:p>
            <a:pPr marL="0" indent="0" algn="r" rtl="1">
              <a:buNone/>
            </a:pPr>
            <a:r>
              <a:rPr lang="ar-SA" dirty="0"/>
              <a:t>‌فَأَنَا ‌الزَّعِيمُ لِآخُذَ بِيَدِهِ حَتَّى أُدْخِلَهُ الْجَنَّةَ "</a:t>
            </a:r>
          </a:p>
          <a:p>
            <a:pPr marL="0" indent="0" algn="r" rtl="1">
              <a:buNone/>
            </a:pPr>
            <a:r>
              <a:rPr lang="ar-SA" sz="1400" dirty="0"/>
              <a:t>(المعجم الكبير للطبراني، صححه الالباني في السلسلة الصحيحة رقم 2686).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76678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6201-B229-7EDF-E31E-423449FE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Taheed Defined: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A705-B8CE-B578-CF0F-08D0EE48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r" rtl="1"/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إفراد الله – تعالى – بالألوهية، والربوبية، والأسماء والصفات.</a:t>
            </a:r>
          </a:p>
          <a:p>
            <a:pPr algn="r" rtl="1"/>
            <a:r>
              <a:rPr lang="ar-SA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توحيد الألوهية</a:t>
            </a:r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: إفراد الله – تعالى – بالعبادة، كالصلاة، والذبح، والنذر، وغيرها، بحيث تكون الأعمال الصالحة لله وحده، لا شريك له.</a:t>
            </a:r>
            <a:endParaRPr lang="ur-PK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 rtl="1"/>
            <a:r>
              <a:rPr lang="ar-SA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توحيد ال</a:t>
            </a:r>
            <a:r>
              <a:rPr lang="ur-PK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ربوب</a:t>
            </a:r>
            <a:r>
              <a:rPr lang="ar-SA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ية</a:t>
            </a:r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: إفراد الله – تعالى – ب</a:t>
            </a:r>
            <a:r>
              <a:rPr lang="ur-PK" sz="2400" dirty="0">
                <a:latin typeface="Segoe UI" panose="020B0502040204020203" pitchFamily="34" charset="0"/>
                <a:cs typeface="Segoe UI" panose="020B0502040204020203" pitchFamily="34" charset="0"/>
              </a:rPr>
              <a:t>أفعا</a:t>
            </a:r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له، كالخلق، والإحياء، والإماتة، وغيرها.</a:t>
            </a:r>
          </a:p>
          <a:p>
            <a:pPr algn="r" rtl="1"/>
            <a:r>
              <a:rPr lang="ar-SA" sz="24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توحيد الأسماء والصفات</a:t>
            </a:r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: إفراد الله – تعالى – بأسمائه وصفاته: </a:t>
            </a:r>
            <a:r>
              <a:rPr lang="ar-SA" sz="2400" dirty="0"/>
              <a:t>إثباتُ ما أثبَتَه اللهُ لنَفْسِه، أو أثبَتَه له رسولُه، مِن غيرِ تحريفٍ ولا تعطيلٍ، ولَا تكييفٍ ولا تمثيلٍ.</a:t>
            </a:r>
            <a:r>
              <a:rPr lang="ar-SA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/>
              <a:t>"Affirming what Allah has affirmed for Himself, or what His Messenger has affirmed for Him, — without distortion or denial, and without asking how or likening Him."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314</TotalTime>
  <Words>293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Arabic Typesetting</vt:lpstr>
      <vt:lpstr>Arial</vt:lpstr>
      <vt:lpstr>Garamond</vt:lpstr>
      <vt:lpstr>Segoe UI</vt:lpstr>
      <vt:lpstr>Organic</vt:lpstr>
      <vt:lpstr>Tauheed Defined</vt:lpstr>
      <vt:lpstr>Our Text Link to Text: https://www.alukah.net/books/files/book_16709/bookfile/awlnaqida.pdf  </vt:lpstr>
      <vt:lpstr>Phrasing the Subject</vt:lpstr>
      <vt:lpstr>Preface to the Subject: التوحيد</vt:lpstr>
      <vt:lpstr>The Three Fundamantals الأصول الثلاثة</vt:lpstr>
      <vt:lpstr>Taheed Defined: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snek rb</dc:creator>
  <cp:lastModifiedBy>snek rb</cp:lastModifiedBy>
  <cp:revision>20</cp:revision>
  <dcterms:created xsi:type="dcterms:W3CDTF">2025-09-11T05:00:38Z</dcterms:created>
  <dcterms:modified xsi:type="dcterms:W3CDTF">2025-09-11T18:42:36Z</dcterms:modified>
</cp:coreProperties>
</file>