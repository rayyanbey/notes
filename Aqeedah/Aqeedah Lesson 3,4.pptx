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4" r:id="rId4"/>
    <p:sldId id="266" r:id="rId5"/>
    <p:sldId id="265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2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7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9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0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92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64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64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86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4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7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533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061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05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780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37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385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02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889B6D-771E-48D6-ADEA-0C34847D9D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5132-315B-3388-6504-AFC0D92D2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Tauheed </a:t>
            </a:r>
            <a:r>
              <a:rPr lang="en-US" dirty="0" err="1"/>
              <a:t>Uluhiyyah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2BC81-97F9-D636-1D4B-85FC4C9384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Lesson 3</a:t>
            </a:r>
          </a:p>
          <a:p>
            <a:pPr algn="l"/>
            <a:r>
              <a:rPr lang="en-US" dirty="0"/>
              <a:t>Chapter: 4, 5</a:t>
            </a:r>
          </a:p>
          <a:p>
            <a:pPr algn="r"/>
            <a:r>
              <a:rPr lang="en-US" dirty="0">
                <a:solidFill>
                  <a:srgbClr val="92D050"/>
                </a:solidFill>
              </a:rPr>
              <a:t>Prepared by: Hamid Kamaluddin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12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E835-35C0-15CA-019C-BC3CEB27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b="1" dirty="0">
                <a:solidFill>
                  <a:srgbClr val="00B050"/>
                </a:solidFill>
              </a:rPr>
              <a:t>إفراد الله تعالى بأفعال العباد</a:t>
            </a:r>
            <a:endParaRPr lang="en-US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E56D2-32A6-A539-0B78-0C19EE974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sz="4400" dirty="0">
                <a:solidFill>
                  <a:schemeClr val="accent2">
                    <a:lumMod val="75000"/>
                  </a:schemeClr>
                </a:solidFill>
              </a:rPr>
              <a:t>Dedicate all acts of worship to Him alone.</a:t>
            </a:r>
          </a:p>
          <a:p>
            <a:pPr algn="l"/>
            <a:r>
              <a:rPr lang="en-US" sz="4400" dirty="0">
                <a:solidFill>
                  <a:schemeClr val="accent2">
                    <a:lumMod val="75000"/>
                  </a:schemeClr>
                </a:solidFill>
              </a:rPr>
              <a:t>Do not make any act of worship, unless making sure you seek His face alone</a:t>
            </a:r>
          </a:p>
          <a:p>
            <a:pPr algn="r" rtl="1"/>
            <a:r>
              <a:rPr lang="ar-SA" sz="6200" dirty="0">
                <a:solidFill>
                  <a:schemeClr val="accent2">
                    <a:lumMod val="7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فَاعْبُدِ اللهَ مُخْلِصاً لَهُ الدِّيْنَ</a:t>
            </a:r>
            <a:r>
              <a:rPr lang="ar-SA" sz="4400" dirty="0">
                <a:solidFill>
                  <a:schemeClr val="accent2">
                    <a:lumMod val="7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(الزمر: 2)</a:t>
            </a:r>
            <a:endParaRPr lang="en-US" sz="4400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r>
              <a:rPr lang="en-US" sz="4400" dirty="0">
                <a:solidFill>
                  <a:schemeClr val="accent2">
                    <a:lumMod val="75000"/>
                  </a:schemeClr>
                </a:solidFill>
              </a:rPr>
              <a:t>Two levels of Ikhlas &amp; The concept of Shirk Akbar and Shirk Asghar.</a:t>
            </a:r>
          </a:p>
        </p:txBody>
      </p:sp>
    </p:spTree>
    <p:extLst>
      <p:ext uri="{BB962C8B-B14F-4D97-AF65-F5344CB8AC3E}">
        <p14:creationId xmlns:p14="http://schemas.microsoft.com/office/powerpoint/2010/main" val="278322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2785-AC14-57CE-928D-2656033B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Tauheed is by Taufeeq of Allah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750BC-4406-14C6-2E41-8A10D4124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Allah’s choice among His creatures.</a:t>
            </a:r>
          </a:p>
          <a:p>
            <a:pPr algn="r" rtl="1"/>
            <a:r>
              <a:rPr lang="ar-SA" dirty="0"/>
              <a:t>دعاء الثبات:</a:t>
            </a:r>
          </a:p>
          <a:p>
            <a:pPr algn="ctr" rtl="1"/>
            <a:r>
              <a:rPr lang="ar-SA" sz="3200" b="1" dirty="0">
                <a:solidFill>
                  <a:srgbClr val="00B050"/>
                </a:solidFill>
              </a:rPr>
              <a:t>يَا مُقَلِّبَ الْقُلُوْبِ! ثَبِّتْ قَلْبِيْ عَلَى دِيِنِكَ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7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6DB4-7726-5C3D-8E6E-BFFDDB13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Acts of Worship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17E02-2C23-0244-53D3-841E66034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أعمال القلوب</a:t>
            </a:r>
          </a:p>
          <a:p>
            <a:pPr algn="r" rtl="1"/>
            <a:r>
              <a:rPr lang="ar-SA" dirty="0"/>
              <a:t>أعمال الجوارح</a:t>
            </a:r>
          </a:p>
          <a:p>
            <a:pPr algn="r" rtl="1"/>
            <a:r>
              <a:rPr lang="ar-SA" dirty="0"/>
              <a:t>أعمال الطاعة (الأخلاق والمعاملات)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9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B6B8-33F2-7327-60EA-146625070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Tauheed al-</a:t>
            </a:r>
            <a:r>
              <a:rPr lang="en-US" dirty="0" err="1"/>
              <a:t>Uluhiyyah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2C89-61D6-C61C-F7BE-B42119B79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212258"/>
            <a:ext cx="9601196" cy="36636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Tauheed al-</a:t>
            </a:r>
            <a:r>
              <a:rPr lang="en-US" dirty="0" err="1"/>
              <a:t>Uluhiyyah</a:t>
            </a:r>
            <a:r>
              <a:rPr lang="en-US" dirty="0"/>
              <a:t>: The connection of hearts with their Creator.</a:t>
            </a:r>
          </a:p>
          <a:p>
            <a:pPr algn="r" rtl="1"/>
            <a:r>
              <a:rPr lang="ar-SA" dirty="0"/>
              <a:t>توحيد القلب:</a:t>
            </a:r>
          </a:p>
          <a:p>
            <a:pPr algn="r" rtl="1"/>
            <a:r>
              <a:rPr lang="ar-SA" dirty="0"/>
              <a:t>أن يتعلق قلبك بالله </a:t>
            </a:r>
            <a:r>
              <a:rPr lang="en-US" dirty="0"/>
              <a:t>That your heart be attached to God</a:t>
            </a:r>
            <a:endParaRPr lang="ar-SA" dirty="0"/>
          </a:p>
          <a:p>
            <a:pPr algn="r" rtl="1"/>
            <a:r>
              <a:rPr lang="ar-SA" dirty="0"/>
              <a:t>خوفاً من عقابه	</a:t>
            </a:r>
            <a:r>
              <a:rPr lang="en-US" dirty="0"/>
              <a:t>Out of fearing His wrath</a:t>
            </a:r>
            <a:endParaRPr lang="ar-SA" dirty="0"/>
          </a:p>
          <a:p>
            <a:pPr algn="r" rtl="1"/>
            <a:r>
              <a:rPr lang="ar-SA" dirty="0"/>
              <a:t>ورجاءً لثوابه</a:t>
            </a:r>
            <a:r>
              <a:rPr lang="en-US" dirty="0"/>
              <a:t> Hoping His reward </a:t>
            </a:r>
            <a:endParaRPr lang="ar-SA" dirty="0"/>
          </a:p>
          <a:p>
            <a:pPr algn="r" rtl="1"/>
            <a:r>
              <a:rPr lang="ar-SA" dirty="0"/>
              <a:t>محبةً له</a:t>
            </a:r>
            <a:r>
              <a:rPr lang="en-US" dirty="0"/>
              <a:t> with all love </a:t>
            </a:r>
            <a:endParaRPr lang="ar-SA" dirty="0"/>
          </a:p>
          <a:p>
            <a:pPr algn="r" rtl="1"/>
            <a:r>
              <a:rPr lang="ar-SA" dirty="0"/>
              <a:t>وذلك من خلال اتباع الرسل، وما أنْزِلَ إليهم</a:t>
            </a:r>
            <a:r>
              <a:rPr lang="en-US" dirty="0"/>
              <a:t> and that being through following the messengers and the revelations they brought.</a:t>
            </a:r>
          </a:p>
        </p:txBody>
      </p:sp>
    </p:spTree>
    <p:extLst>
      <p:ext uri="{BB962C8B-B14F-4D97-AF65-F5344CB8AC3E}">
        <p14:creationId xmlns:p14="http://schemas.microsoft.com/office/powerpoint/2010/main" val="314866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5B57-9E07-642F-8CE7-43C27A9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95320"/>
            <a:ext cx="9601196" cy="1303867"/>
          </a:xfrm>
        </p:spPr>
        <p:txBody>
          <a:bodyPr/>
          <a:lstStyle/>
          <a:p>
            <a:pPr rtl="1"/>
            <a:r>
              <a:rPr lang="ar-SA" dirty="0"/>
              <a:t>توحيد العبادة </a:t>
            </a:r>
            <a:r>
              <a:rPr lang="en-US" dirty="0"/>
              <a:t> The crux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54B3C-5029-D85E-9B63-2C2A0F26C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87797"/>
            <a:ext cx="9601196" cy="3879920"/>
          </a:xfrm>
        </p:spPr>
        <p:txBody>
          <a:bodyPr>
            <a:normAutofit/>
          </a:bodyPr>
          <a:lstStyle/>
          <a:p>
            <a:r>
              <a:rPr lang="en-US" sz="3200" dirty="0"/>
              <a:t>Majority of people missed this Tauheed.</a:t>
            </a:r>
          </a:p>
          <a:p>
            <a:r>
              <a:rPr lang="en-US" sz="3200" dirty="0"/>
              <a:t>By diverting some acts of worship to others beside Allah.</a:t>
            </a:r>
          </a:p>
          <a:p>
            <a:r>
              <a:rPr lang="en-US" sz="3200" dirty="0"/>
              <a:t>And by that, they committed the severest shirk and kufr.</a:t>
            </a:r>
          </a:p>
          <a:p>
            <a:r>
              <a:rPr lang="en-US" sz="3200" dirty="0"/>
              <a:t>Diverting any acts of worship to others beside Allah, despite “saying” la-</a:t>
            </a:r>
            <a:r>
              <a:rPr lang="en-US" sz="3200" dirty="0" err="1"/>
              <a:t>ilaha</a:t>
            </a:r>
            <a:r>
              <a:rPr lang="en-US" sz="3200" dirty="0"/>
              <a:t>-ill-Allah, is shirk,</a:t>
            </a:r>
          </a:p>
          <a:p>
            <a:r>
              <a:rPr lang="en-US" sz="3200" dirty="0"/>
              <a:t>Like: Dua or Tawaf to others beside Allah.</a:t>
            </a:r>
          </a:p>
        </p:txBody>
      </p:sp>
    </p:spTree>
    <p:extLst>
      <p:ext uri="{BB962C8B-B14F-4D97-AF65-F5344CB8AC3E}">
        <p14:creationId xmlns:p14="http://schemas.microsoft.com/office/powerpoint/2010/main" val="277305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E147-379A-6749-8A78-CA61CE3F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Diverting “Ibadah” to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1FBDD-454B-2448-E71C-E0B1A988C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Constitutes to SHIRK AKBAR, that takes you out of the folds of Islam.</a:t>
            </a:r>
          </a:p>
          <a:p>
            <a:r>
              <a:rPr lang="en-US" dirty="0"/>
              <a:t>Struggle to stay on path, achieving high levels of Tauheed.</a:t>
            </a:r>
          </a:p>
          <a:p>
            <a:r>
              <a:rPr lang="en-US" dirty="0"/>
              <a:t>Stay committed to the people of Tauheed, and scholars of Tauheed.</a:t>
            </a:r>
          </a:p>
        </p:txBody>
      </p:sp>
    </p:spTree>
    <p:extLst>
      <p:ext uri="{BB962C8B-B14F-4D97-AF65-F5344CB8AC3E}">
        <p14:creationId xmlns:p14="http://schemas.microsoft.com/office/powerpoint/2010/main" val="2649529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557</TotalTime>
  <Words>283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Arabic Typesetting</vt:lpstr>
      <vt:lpstr>Arial</vt:lpstr>
      <vt:lpstr>Garamond</vt:lpstr>
      <vt:lpstr>Organic</vt:lpstr>
      <vt:lpstr>Tauheed Uluhiyyah</vt:lpstr>
      <vt:lpstr>إفراد الله تعالى بأفعال العباد</vt:lpstr>
      <vt:lpstr>Tauheed is by Taufeeq of Allah</vt:lpstr>
      <vt:lpstr>Acts of Worship</vt:lpstr>
      <vt:lpstr>Significance of Tauheed al-Uluhiyyah</vt:lpstr>
      <vt:lpstr>توحيد العبادة  The crux</vt:lpstr>
      <vt:lpstr>Diverting “Ibadah” to others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snek rb</dc:creator>
  <cp:lastModifiedBy>snek rb</cp:lastModifiedBy>
  <cp:revision>44</cp:revision>
  <dcterms:created xsi:type="dcterms:W3CDTF">2025-09-16T05:50:59Z</dcterms:created>
  <dcterms:modified xsi:type="dcterms:W3CDTF">2025-10-13T14:21:52Z</dcterms:modified>
</cp:coreProperties>
</file>